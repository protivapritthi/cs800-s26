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Caveat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BM Plex Mono Light"/>
      <p:regular r:id="rId24"/>
      <p:bold r:id="rId25"/>
      <p:italic r:id="rId26"/>
      <p:boldItalic r:id="rId27"/>
    </p:embeddedFont>
    <p:embeddedFont>
      <p:font typeface="IBM Plex Mono ExtraLight"/>
      <p:regular r:id="rId28"/>
      <p:bold r:id="rId29"/>
      <p:italic r:id="rId30"/>
      <p:boldItalic r:id="rId31"/>
    </p:embeddedFont>
    <p:embeddedFont>
      <p:font typeface="IBM Plex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3402C4-19EF-4C80-8147-3E94BAC1D0C6}">
  <a:tblStyle styleId="{2F3402C4-19EF-4C80-8147-3E94BAC1D0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BMPlexMon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MonoLight-italic.fntdata"/><Relationship Id="rId25" Type="http://schemas.openxmlformats.org/officeDocument/2006/relationships/font" Target="fonts/IBMPlexMonoLight-bold.fntdata"/><Relationship Id="rId28" Type="http://schemas.openxmlformats.org/officeDocument/2006/relationships/font" Target="fonts/IBMPlexMonoExtraLight-regular.fntdata"/><Relationship Id="rId27" Type="http://schemas.openxmlformats.org/officeDocument/2006/relationships/font" Target="fonts/IBMPlexMono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Extra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ExtraLight-boldItalic.fntdata"/><Relationship Id="rId30" Type="http://schemas.openxmlformats.org/officeDocument/2006/relationships/font" Target="fonts/IBMPlexMonoExtraLight-italic.fntdata"/><Relationship Id="rId11" Type="http://schemas.openxmlformats.org/officeDocument/2006/relationships/slide" Target="slides/slide5.xml"/><Relationship Id="rId33" Type="http://schemas.openxmlformats.org/officeDocument/2006/relationships/font" Target="fonts/IBMPlexMono-bold.fntdata"/><Relationship Id="rId10" Type="http://schemas.openxmlformats.org/officeDocument/2006/relationships/slide" Target="slides/slide4.xml"/><Relationship Id="rId32" Type="http://schemas.openxmlformats.org/officeDocument/2006/relationships/font" Target="fonts/IBMPlexMono-regular.fntdata"/><Relationship Id="rId13" Type="http://schemas.openxmlformats.org/officeDocument/2006/relationships/slide" Target="slides/slide7.xml"/><Relationship Id="rId35" Type="http://schemas.openxmlformats.org/officeDocument/2006/relationships/font" Target="fonts/IBMPlexMono-boldItalic.fntdata"/><Relationship Id="rId12" Type="http://schemas.openxmlformats.org/officeDocument/2006/relationships/slide" Target="slides/slide6.xml"/><Relationship Id="rId34" Type="http://schemas.openxmlformats.org/officeDocument/2006/relationships/font" Target="fonts/IBMPlex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Caveat-bold.fntdata"/><Relationship Id="rId1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d1b1455a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d1b1455a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d1b1455aa9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d1b1455aa9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d1b1455aa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d1b1455aa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d1b1455aa9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d1b1455aa9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d1b1455aa9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d1b1455aa9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d1b1455aa9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d1b1455aa9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d1b1455aa9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d1b1455aa9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d1b1455aa9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d1b1455aa9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d1b1455aa9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d1b1455aa9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1b1455aa9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d1b1455aa9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d1b1455aa9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d1b1455aa9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5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5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5;p5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" name="Google Shape;26;p5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" name="Google Shape;27;p5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" name="Google Shape;29;p5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" name="Google Shape;31;p5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7" name="Google Shape;37;p5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6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6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6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6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6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6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6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7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8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96" name="Google Shape;96;p9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9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9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9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1" name="Google Shape;101;p9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" name="Google Shape;102;p9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3" name="Google Shape;103;p9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9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0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122" name="Google Shape;122;p11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1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" name="Google Shape;124;p11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5" name="Google Shape;125;p11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28" name="Google Shape;128;p11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9" name="Google Shape;129;p11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1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1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1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5" name="Google Shape;135;p11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38" name="Google Shape;138;p11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9" name="Google Shape;139;p11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0" name="Google Shape;140;p11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1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7" name="Google Shape;147;p12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8" name="Google Shape;148;p12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2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2" name="Google Shape;152;p12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8" name="Google Shape;158;p12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9" name="Google Shape;159;p12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0" name="Google Shape;160;p12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1" name="Google Shape;161;p12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2" name="Google Shape;162;p12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3" name="Google Shape;163;p12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2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7" name="Google Shape;167;p13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8" name="Google Shape;168;p13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13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0" name="Google Shape;170;p13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1" name="Google Shape;171;p13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3" name="Google Shape;173;p13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4" name="Google Shape;174;p13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5" name="Google Shape;175;p13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7" name="Google Shape;177;p13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13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13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3" name="Google Shape;183;p13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4" name="Google Shape;184;p13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6" name="Google Shape;186;p13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3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13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2" name="Google Shape;192;p13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3" name="Google Shape;193;p13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13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14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7" name="Google Shape;217;p14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18" name="Google Shape;218;p14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19" name="Google Shape;219;p14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0" name="Google Shape;220;p14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1" name="Google Shape;221;p14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2" name="Google Shape;222;p14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3" name="Google Shape;223;p14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4" name="Google Shape;224;p14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5" name="Google Shape;225;p14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6" name="Google Shape;226;p14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7" name="Google Shape;227;p14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15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9" name="Google Shape;249;p15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50" name="Google Shape;250;p15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1" name="Google Shape;251;p15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52" name="Google Shape;252;p15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3" name="Google Shape;253;p15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54" name="Google Shape;254;p15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15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16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79" name="Google Shape;279;p16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0" name="Google Shape;280;p16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1" name="Google Shape;281;p16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2" name="Google Shape;282;p16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83" name="Google Shape;283;p16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84" name="Google Shape;284;p16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85" name="Google Shape;285;p16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6" name="Google Shape;286;p16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7" name="Google Shape;287;p1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16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292" name="Google Shape;292;p17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93" name="Google Shape;293;p17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94" name="Google Shape;294;p17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95" name="Google Shape;295;p1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17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18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23" name="Google Shape;323;p18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4" name="Google Shape;324;p18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5" name="Google Shape;325;p18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6" name="Google Shape;326;p18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7" name="Google Shape;327;p18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8" name="Google Shape;328;p18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9" name="Google Shape;329;p1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18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19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9" name="Google Shape;349;p19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0" name="Google Shape;350;p19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51" name="Google Shape;351;p19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2" name="Google Shape;352;p19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3" name="Google Shape;353;p1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19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0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20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  <p:sp>
        <p:nvSpPr>
          <p:cNvPr id="381" name="Google Shape;38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384" name="Google Shape;384;p21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85" name="Google Shape;38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2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  <p:sp>
        <p:nvSpPr>
          <p:cNvPr id="411" name="Google Shape;41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3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5" name="Google Shape;415;p2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23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4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5" name="Google Shape;435;p24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36" name="Google Shape;436;p2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4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38" name="Google Shape;43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41" name="Google Shape;44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6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60" name="Google Shape;460;p26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1" name="Google Shape;461;p26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462" name="Google Shape;46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5" name="Google Shape;46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8" name="Google Shape;46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29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6" name="Google Shape;486;p29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29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88" name="Google Shape;48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30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30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" name="Google Shape;492;p30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30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4" name="Google Shape;494;p30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30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30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30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30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0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0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0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0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0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0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0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506" name="Google Shape;506;p30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30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0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9" name="Google Shape;50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31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3" name="Google Shape;513;p31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14" name="Google Shape;51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2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33" name="Google Shape;533;p32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34" name="Google Shape;534;p3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2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36" name="Google Shape;536;p32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37" name="Google Shape;537;p32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8" name="Google Shape;53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3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62" name="Google Shape;562;p33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3" name="Google Shape;563;p33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4" name="Google Shape;564;p33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65" name="Google Shape;565;p33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6" name="Google Shape;566;p33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7" name="Google Shape;567;p33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8" name="Google Shape;56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4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90" name="Google Shape;590;p34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91" name="Google Shape;591;p34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2" name="Google Shape;592;p34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4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6" name="Google Shape;596;p34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7" name="Google Shape;597;p34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8" name="Google Shape;598;p34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9" name="Google Shape;599;p34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0" name="Google Shape;600;p34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1" name="Google Shape;60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4" name="Google Shape;604;p3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5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22" name="Google Shape;622;p35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23" name="Google Shape;623;p35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35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35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26" name="Google Shape;626;p35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7" name="Google Shape;627;p35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6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49" name="Google Shape;649;p36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50" name="Google Shape;650;p36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1" name="Google Shape;651;p36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2" name="Google Shape;652;p36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6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54" name="Google Shape;654;p36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5" name="Google Shape;655;p36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6" name="Google Shape;656;p36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6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58" name="Google Shape;658;p36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9" name="Google Shape;659;p36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60" name="Google Shape;66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000000"/>
                </a:solidFill>
              </a:defRPr>
            </a:lvl1pPr>
            <a:lvl2pPr lvl="1" algn="r">
              <a:buNone/>
              <a:defRPr sz="1300">
                <a:solidFill>
                  <a:srgbClr val="000000"/>
                </a:solidFill>
              </a:defRPr>
            </a:lvl2pPr>
            <a:lvl3pPr lvl="2" algn="r">
              <a:buNone/>
              <a:defRPr sz="1300">
                <a:solidFill>
                  <a:srgbClr val="000000"/>
                </a:solidFill>
              </a:defRPr>
            </a:lvl3pPr>
            <a:lvl4pPr lvl="3" algn="r">
              <a:buNone/>
              <a:defRPr sz="1300">
                <a:solidFill>
                  <a:srgbClr val="000000"/>
                </a:solidFill>
              </a:defRPr>
            </a:lvl4pPr>
            <a:lvl5pPr lvl="4" algn="r">
              <a:buNone/>
              <a:defRPr sz="1300">
                <a:solidFill>
                  <a:srgbClr val="000000"/>
                </a:solidFill>
              </a:defRPr>
            </a:lvl5pPr>
            <a:lvl6pPr lvl="5" algn="r">
              <a:buNone/>
              <a:defRPr sz="1300">
                <a:solidFill>
                  <a:srgbClr val="000000"/>
                </a:solidFill>
              </a:defRPr>
            </a:lvl6pPr>
            <a:lvl7pPr lvl="6" algn="r">
              <a:buNone/>
              <a:defRPr sz="1300">
                <a:solidFill>
                  <a:srgbClr val="000000"/>
                </a:solidFill>
              </a:defRPr>
            </a:lvl7pPr>
            <a:lvl8pPr lvl="7" algn="r">
              <a:buNone/>
              <a:defRPr sz="1300">
                <a:solidFill>
                  <a:srgbClr val="000000"/>
                </a:solidFill>
              </a:defRPr>
            </a:lvl8pPr>
            <a:lvl9pPr lvl="8" algn="r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7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7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7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7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7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3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3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38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13" name="Google Shape;713;p38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4" name="Google Shape;714;p38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5" name="Google Shape;715;p38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6" name="Google Shape;716;p38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7" name="Google Shape;717;p38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8" name="Google Shape;718;p38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9" name="Google Shape;719;p38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0" name="Google Shape;720;p38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1" name="Google Shape;721;p38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2" name="Google Shape;72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283475" y="4841875"/>
            <a:ext cx="86316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CS800 – Research Methods                                                                                                    Spring 2026</a:t>
            </a:r>
            <a:endParaRPr>
              <a:solidFill>
                <a:srgbClr val="666666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aclanthology.org/2025.emnlp-main.1235/" TargetMode="External"/><Relationship Id="rId5" Type="http://schemas.openxmlformats.org/officeDocument/2006/relationships/hyperlink" Target="https://ui.adsabs.harvard.edu/abs/2026arXiv260105445L/abstract" TargetMode="External"/><Relationship Id="rId6" Type="http://schemas.openxmlformats.org/officeDocument/2006/relationships/hyperlink" Target="https://scholar.google.com/citations?user=7Vkqm00AAAAJ&amp;hl=en" TargetMode="External"/><Relationship Id="rId7" Type="http://schemas.openxmlformats.org/officeDocument/2006/relationships/hyperlink" Target="https://www.linkedin.com/in/protiva-das-504147198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DU_sig_fullcolor.png" id="727" name="Google Shape;72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2100" y="136775"/>
            <a:ext cx="1591549" cy="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9"/>
          <p:cNvSpPr txBox="1"/>
          <p:nvPr/>
        </p:nvSpPr>
        <p:spPr>
          <a:xfrm>
            <a:off x="412800" y="1006675"/>
            <a:ext cx="8328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latin typeface="Calibri"/>
                <a:ea typeface="Calibri"/>
                <a:cs typeface="Calibri"/>
                <a:sym typeface="Calibri"/>
              </a:rPr>
              <a:t>Analyzing the Evolution of Multi-Turn Jailbreak Attacks:</a:t>
            </a:r>
            <a:endParaRPr b="1" sz="296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latin typeface="Calibri"/>
                <a:ea typeface="Calibri"/>
                <a:cs typeface="Calibri"/>
                <a:sym typeface="Calibri"/>
              </a:rPr>
              <a:t>A Study of NEXUS and Mastermind</a:t>
            </a:r>
            <a:endParaRPr b="1" sz="296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r>
              <a:rPr b="1" lang="en" sz="256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1" lang="en" sz="256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256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Protiva Das</a:t>
            </a:r>
            <a:endParaRPr b="1" sz="256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9"/>
          <p:cNvSpPr txBox="1"/>
          <p:nvPr/>
        </p:nvSpPr>
        <p:spPr>
          <a:xfrm>
            <a:off x="2068350" y="4301950"/>
            <a:ext cx="50178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Assignment 5 - Presentation</a:t>
            </a:r>
            <a:endParaRPr sz="2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CS 800 - Research Methods</a:t>
            </a:r>
            <a:endParaRPr sz="2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March 23, 2026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30" name="Google Shape;730;p39"/>
          <p:cNvSpPr txBox="1"/>
          <p:nvPr/>
        </p:nvSpPr>
        <p:spPr>
          <a:xfrm>
            <a:off x="2487900" y="3271700"/>
            <a:ext cx="4283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https://aclanthology.org/2025.emnlp-main.1235/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https://ui.adsabs.harvard.edu/abs/2026arXiv260105445L/abstract</a:t>
            </a:r>
            <a:r>
              <a:rPr lang="en" sz="1100"/>
              <a:t> </a:t>
            </a:r>
            <a:endParaRPr sz="1100"/>
          </a:p>
        </p:txBody>
      </p:sp>
      <p:sp>
        <p:nvSpPr>
          <p:cNvPr id="731" name="Google Shape;731;p39"/>
          <p:cNvSpPr txBox="1"/>
          <p:nvPr/>
        </p:nvSpPr>
        <p:spPr>
          <a:xfrm>
            <a:off x="393225" y="4443550"/>
            <a:ext cx="22020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9"/>
          <p:cNvSpPr txBox="1"/>
          <p:nvPr/>
        </p:nvSpPr>
        <p:spPr>
          <a:xfrm>
            <a:off x="545625" y="4595950"/>
            <a:ext cx="22020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9"/>
          <p:cNvSpPr txBox="1"/>
          <p:nvPr/>
        </p:nvSpPr>
        <p:spPr>
          <a:xfrm>
            <a:off x="674450" y="4522275"/>
            <a:ext cx="22020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9"/>
          <p:cNvSpPr txBox="1"/>
          <p:nvPr/>
        </p:nvSpPr>
        <p:spPr>
          <a:xfrm>
            <a:off x="734375" y="4239077"/>
            <a:ext cx="15222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Google Scholar</a:t>
            </a:r>
            <a:endParaRPr sz="1500"/>
          </a:p>
        </p:txBody>
      </p:sp>
      <p:sp>
        <p:nvSpPr>
          <p:cNvPr id="735" name="Google Shape;73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39"/>
          <p:cNvSpPr txBox="1"/>
          <p:nvPr/>
        </p:nvSpPr>
        <p:spPr>
          <a:xfrm>
            <a:off x="6644825" y="4218225"/>
            <a:ext cx="1701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Linked IN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0"/>
          <p:cNvSpPr txBox="1"/>
          <p:nvPr>
            <p:ph type="title"/>
          </p:nvPr>
        </p:nvSpPr>
        <p:spPr>
          <a:xfrm>
            <a:off x="250500" y="401100"/>
            <a:ext cx="57738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What are multi-turn jailbreak attacks?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0"/>
          <p:cNvSpPr txBox="1"/>
          <p:nvPr/>
        </p:nvSpPr>
        <p:spPr>
          <a:xfrm>
            <a:off x="456150" y="1101000"/>
            <a:ext cx="8173200" cy="3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Multi-turn jailbreaking is an attack strategy where harmful intent is distributed across a sequence of interactions with a language model, rather than being expressed in a single prompt.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EA9999"/>
                </a:solidFill>
              </a:rPr>
              <a:t>Turn 1</a:t>
            </a:r>
            <a:r>
              <a:rPr lang="en" sz="2100"/>
              <a:t>: Innocent question 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CC4125"/>
                </a:solidFill>
              </a:rPr>
              <a:t>Turn 2</a:t>
            </a:r>
            <a:r>
              <a:rPr lang="en" sz="2100"/>
              <a:t>: Context building 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61C00"/>
                </a:solidFill>
              </a:rPr>
              <a:t>Turn 3</a:t>
            </a:r>
            <a:r>
              <a:rPr lang="en" sz="2100"/>
              <a:t>: Slightly risky query 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B0F00"/>
                </a:solidFill>
              </a:rPr>
              <a:t>Turn 4</a:t>
            </a:r>
            <a:r>
              <a:rPr lang="en" sz="2100"/>
              <a:t>: Harmful output triggered</a:t>
            </a:r>
            <a:endParaRPr sz="2100"/>
          </a:p>
        </p:txBody>
      </p:sp>
      <p:sp>
        <p:nvSpPr>
          <p:cNvPr id="743" name="Google Shape;74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1"/>
          <p:cNvSpPr txBox="1"/>
          <p:nvPr>
            <p:ph type="title"/>
          </p:nvPr>
        </p:nvSpPr>
        <p:spPr>
          <a:xfrm>
            <a:off x="250500" y="401100"/>
            <a:ext cx="57738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Why is it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dangerous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1"/>
          <p:cNvSpPr txBox="1"/>
          <p:nvPr/>
        </p:nvSpPr>
        <p:spPr>
          <a:xfrm>
            <a:off x="1243900" y="2829300"/>
            <a:ext cx="56784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Hard to detect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Bypasses safety filters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Mimics real human conversations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50" name="Google Shape;75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41"/>
          <p:cNvSpPr txBox="1"/>
          <p:nvPr/>
        </p:nvSpPr>
        <p:spPr>
          <a:xfrm>
            <a:off x="1153175" y="1358550"/>
            <a:ext cx="6225300" cy="1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“What makes this dangerous is that the model is not attacked directly rather, it is guided into failure step by step.”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2"/>
          <p:cNvSpPr txBox="1"/>
          <p:nvPr>
            <p:ph type="title"/>
          </p:nvPr>
        </p:nvSpPr>
        <p:spPr>
          <a:xfrm>
            <a:off x="250500" y="401100"/>
            <a:ext cx="57738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The Problem: Multi-Turn Jailbreak Attacks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42" title="Screenshot 2026-03-23 1342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538" y="2658350"/>
            <a:ext cx="3864914" cy="21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2"/>
          <p:cNvSpPr txBox="1"/>
          <p:nvPr/>
        </p:nvSpPr>
        <p:spPr>
          <a:xfrm>
            <a:off x="456150" y="1054500"/>
            <a:ext cx="34785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Single-Turn Attacks (Largely Mitigated)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Safety filters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Prompt moderation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Immediate detection of harmful queries</a:t>
            </a:r>
            <a:endParaRPr/>
          </a:p>
        </p:txBody>
      </p:sp>
      <p:sp>
        <p:nvSpPr>
          <p:cNvPr id="759" name="Google Shape;75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0" name="Google Shape;760;p42"/>
          <p:cNvSpPr txBox="1"/>
          <p:nvPr/>
        </p:nvSpPr>
        <p:spPr>
          <a:xfrm>
            <a:off x="4263575" y="1054550"/>
            <a:ext cx="39234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Multi-Turn Jailbreak Attacks (Persistent Threat)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Intent distributed across multiple turns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Individual queries appear benign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Harm emerges from the full interaction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3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NEXUS: Structured Exploration of Jailbreak Attacks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43"/>
          <p:cNvSpPr txBox="1"/>
          <p:nvPr/>
        </p:nvSpPr>
        <p:spPr>
          <a:xfrm>
            <a:off x="416825" y="1053875"/>
            <a:ext cx="62604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Modular attack framework: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78D8"/>
                </a:solidFill>
              </a:rPr>
              <a:t>ThoughtNet</a:t>
            </a:r>
            <a:r>
              <a:rPr lang="en"/>
              <a:t> → semantic attack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Simulator</a:t>
            </a:r>
            <a:r>
              <a:rPr lang="en"/>
              <a:t> → feedback refinement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Traverser</a:t>
            </a:r>
            <a:r>
              <a:rPr lang="en"/>
              <a:t> → optimized execution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Transforms jailbreak generation from prompt crafting → </a:t>
            </a:r>
            <a:r>
              <a:rPr lang="en">
                <a:solidFill>
                  <a:srgbClr val="741B47"/>
                </a:solidFill>
              </a:rPr>
              <a:t>systematic search</a:t>
            </a:r>
            <a:endParaRPr>
              <a:solidFill>
                <a:srgbClr val="741B47"/>
              </a:solidFill>
            </a:endParaRPr>
          </a:p>
        </p:txBody>
      </p:sp>
      <p:pic>
        <p:nvPicPr>
          <p:cNvPr id="768" name="Google Shape;768;p43" title="Screenshot 2026-03-23 1351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650" y="2483025"/>
            <a:ext cx="3407743" cy="226682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3"/>
          <p:cNvSpPr txBox="1"/>
          <p:nvPr/>
        </p:nvSpPr>
        <p:spPr>
          <a:xfrm>
            <a:off x="2858700" y="4749850"/>
            <a:ext cx="3426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NEXUS pipeline: exploration → refinement → execution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4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Limitations of NEXUS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44"/>
          <p:cNvSpPr txBox="1"/>
          <p:nvPr/>
        </p:nvSpPr>
        <p:spPr>
          <a:xfrm>
            <a:off x="416825" y="1053875"/>
            <a:ext cx="62604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Despite its structured design, NEXUS has key limitations: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No long-term planning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Limited adaptability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Static exploration strategy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No knowledge reuse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</a:t>
            </a:r>
            <a:endParaRPr b="1"/>
          </a:p>
        </p:txBody>
      </p:sp>
      <p:sp>
        <p:nvSpPr>
          <p:cNvPr id="777" name="Google Shape;777;p44"/>
          <p:cNvSpPr txBox="1"/>
          <p:nvPr/>
        </p:nvSpPr>
        <p:spPr>
          <a:xfrm>
            <a:off x="416825" y="4012650"/>
            <a:ext cx="5937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Explores the attack space, but does not learn how to navigate 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5"/>
          <p:cNvSpPr txBox="1"/>
          <p:nvPr>
            <p:ph type="title"/>
          </p:nvPr>
        </p:nvSpPr>
        <p:spPr>
          <a:xfrm>
            <a:off x="250500" y="401100"/>
            <a:ext cx="83064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Mastermind: Knowledge-Driven Multi-Turn Jailbreak Framework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45"/>
          <p:cNvSpPr txBox="1"/>
          <p:nvPr/>
        </p:nvSpPr>
        <p:spPr>
          <a:xfrm>
            <a:off x="416825" y="1053875"/>
            <a:ext cx="3358200" cy="3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 address the limitations of NEXUS: Mastermind introduces a knowledge-driven approach.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</a:t>
            </a:r>
            <a:r>
              <a:rPr lang="en"/>
              <a:t>introduces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• Planner: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Defines long-term attack strategy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• Executor: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Generates context-aware adversarial queries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• Controller: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Monitors responses and refines attack flow</a:t>
            </a:r>
            <a:endParaRPr/>
          </a:p>
        </p:txBody>
      </p:sp>
      <p:pic>
        <p:nvPicPr>
          <p:cNvPr id="785" name="Google Shape;7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025" y="1661000"/>
            <a:ext cx="5040599" cy="23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6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What Makes Mastermind Different?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2" name="Google Shape;792;p46"/>
          <p:cNvSpPr txBox="1"/>
          <p:nvPr/>
        </p:nvSpPr>
        <p:spPr>
          <a:xfrm>
            <a:off x="416825" y="1053875"/>
            <a:ext cx="62604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741B47"/>
                </a:solidFill>
              </a:rPr>
              <a:t>From search to learning and adaptation.</a:t>
            </a:r>
            <a:endParaRPr sz="2300">
              <a:solidFill>
                <a:srgbClr val="741B47"/>
              </a:solidFill>
            </a:endParaRPr>
          </a:p>
        </p:txBody>
      </p:sp>
      <p:graphicFrame>
        <p:nvGraphicFramePr>
          <p:cNvPr id="793" name="Google Shape;793;p46"/>
          <p:cNvGraphicFramePr/>
          <p:nvPr/>
        </p:nvGraphicFramePr>
        <p:xfrm>
          <a:off x="782425" y="2190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{2F3402C4-19EF-4C80-8147-3E94BAC1D0C6}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NEXUS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Mastermind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Planning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Long-term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Learning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Adaptation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Dynamic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Strategy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794" name="Google Shape;794;p46"/>
          <p:cNvSpPr txBox="1"/>
          <p:nvPr/>
        </p:nvSpPr>
        <p:spPr>
          <a:xfrm>
            <a:off x="782425" y="4218250"/>
            <a:ext cx="732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Table of </a:t>
            </a:r>
            <a:r>
              <a:rPr lang="en" sz="1100"/>
              <a:t>Comparison</a:t>
            </a:r>
            <a:r>
              <a:rPr lang="en" sz="1100"/>
              <a:t> between NEXUS and Mastermind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7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Relationship Between NEXUS and Mastermind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1" name="Google Shape;801;p47"/>
          <p:cNvSpPr txBox="1"/>
          <p:nvPr/>
        </p:nvSpPr>
        <p:spPr>
          <a:xfrm>
            <a:off x="416825" y="1258650"/>
            <a:ext cx="81399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Mastermind builds on the limitations of NEXUS by addressing its lack of planning and learning.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While NEXUS explores attack paths, Mastermind learns and adapts them for more effective jailbreaks.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Mastermind can be seen as a next-generation extension of NEXUS.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8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Relationship Between NEXUS and Mastermind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8" name="Google Shape;808;p48" title="ChatGPT Image Mar 23, 2026, 02_15_3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825" y="1151325"/>
            <a:ext cx="4668349" cy="31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8"/>
          <p:cNvSpPr txBox="1"/>
          <p:nvPr/>
        </p:nvSpPr>
        <p:spPr>
          <a:xfrm>
            <a:off x="1213300" y="4456350"/>
            <a:ext cx="665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Figure: Comparison of NEXUS and Mastermind Frameworks for Multi-Turn Jailbreak Attacks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9"/>
          <p:cNvSpPr txBox="1"/>
          <p:nvPr>
            <p:ph type="title"/>
          </p:nvPr>
        </p:nvSpPr>
        <p:spPr>
          <a:xfrm>
            <a:off x="250500" y="401100"/>
            <a:ext cx="6426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6" name="Google Shape;816;p49"/>
          <p:cNvSpPr txBox="1"/>
          <p:nvPr/>
        </p:nvSpPr>
        <p:spPr>
          <a:xfrm>
            <a:off x="544275" y="1258650"/>
            <a:ext cx="7268400" cy="2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Core Understanding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Multi-turn jailbreaks exploit </a:t>
            </a:r>
            <a:r>
              <a:rPr b="1" lang="en" sz="1100"/>
              <a:t>conversation-level weaknesses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Traditional safety works </a:t>
            </a:r>
            <a:r>
              <a:rPr b="1" lang="en" sz="1100"/>
              <a:t>per prompt</a:t>
            </a:r>
            <a:r>
              <a:rPr lang="en" sz="1100"/>
              <a:t>, not across interactions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From NEXUS to Mastermind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NEXUS</a:t>
            </a:r>
            <a:r>
              <a:rPr lang="en" sz="1100"/>
              <a:t> → Structured exploration of attack space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Mastermind</a:t>
            </a:r>
            <a:r>
              <a:rPr lang="en" sz="1100"/>
              <a:t> → Learning, planning, and adaptation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9"/>
          <p:cNvSpPr txBox="1"/>
          <p:nvPr/>
        </p:nvSpPr>
        <p:spPr>
          <a:xfrm>
            <a:off x="600975" y="3798650"/>
            <a:ext cx="7211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The future of jailbreak attacks is not just exploration, but intelligent and adaptive strategy.</a:t>
            </a:r>
            <a:endParaRPr b="1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